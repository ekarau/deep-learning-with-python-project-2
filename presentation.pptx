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3215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with Python — Project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Cardiac MRI Segmentation on ACDC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9019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4A52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five-block pipeline, an ablation study and an honest result.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2011680" cy="0"/>
          </a:xfrm>
          <a:prstGeom prst="line">
            <a:avLst/>
          </a:prstGeom>
          <a:noFill/>
          <a:ln w="9525">
            <a:solidFill>
              <a:srgbClr val="D6D8E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542109" y="3074997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Selvinaz Sayın (220901755) · </a:t>
            </a:r>
            <a:endParaRPr lang="tr-TR" sz="1200" dirty="0">
              <a:solidFill>
                <a:srgbClr val="1A223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Ege Karaurgan (229910141) · </a:t>
            </a:r>
            <a:endParaRPr lang="tr-TR" sz="1200" dirty="0">
              <a:solidFill>
                <a:srgbClr val="1A223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Vedat Efe Gezer (229910158) · </a:t>
            </a:r>
            <a:endParaRPr lang="tr-TR" sz="1200" dirty="0">
              <a:solidFill>
                <a:srgbClr val="1A223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Mehmet Emin Akkaya (2309011036) · </a:t>
            </a:r>
            <a:endParaRPr lang="tr-TR" sz="1200" dirty="0">
              <a:solidFill>
                <a:srgbClr val="1A223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Bayram Selim Yılmaz (2309011053)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A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Software Engineering — Istinye University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A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SWE012, Spring 2026 — Instructor: Asst. Prof. Dr. Yigit Bekir Kaya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4663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speaks for 3:00.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are actually predicting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40233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ACDC benchmark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50" dirty="0">
                <a:solidFill>
                  <a:srgbClr val="4A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patients · cine cardiac MRI · 5 phenotypes (NOR, MINF, DCM, HCM, ARV).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50" dirty="0">
                <a:solidFill>
                  <a:srgbClr val="4A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Voxel-wise 4-class segmentation: background, right ventricle, myocardium, left ventricle.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50" dirty="0">
                <a:solidFill>
                  <a:srgbClr val="4A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/ 50 train / test · ~28 cine frames per patient · severe foreground/background imbalance.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4069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is hard.</a:t>
            </a:r>
            <a:r>
              <a:rPr lang="en-US" sz="1200" dirty="0">
                <a:solidFill>
                  <a:srgbClr val="4A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Only 100 labelled training patients — a small-data, high-capacity regime where the wins come from inductive bias and regularisation, not from extra parameters.</a:t>
            </a:r>
            <a:endParaRPr lang="en-US" sz="1200" dirty="0"/>
          </a:p>
        </p:txBody>
      </p:sp>
      <p:pic>
        <p:nvPicPr>
          <p:cNvPr id="6" name="Image 0" descr="eda_slice_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691640"/>
            <a:ext cx="4023360" cy="20116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663440" y="37490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 MRI slices with expert ground-truth overlays (RV / MYO / LV).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blocks, one model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499616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8E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658368" y="1691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58368" y="20574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U-Net backbone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8368" y="23774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Conv3d + InstanceNorm + LeakyReLU. Volumetric skips preserve inter-slice anatomy.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185416" y="1600200"/>
            <a:ext cx="1499616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8E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2295144" y="1691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295144" y="20574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Denoising AE pretrain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95144" y="23774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Self-supervised encoder init — reconstructs clean voxels from Gaussian + dropout corruption.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822192" y="1600200"/>
            <a:ext cx="1499616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8E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3931920" y="1691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931920" y="20574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ConvLSTM bottleneck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931920" y="23774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recurrence over the cine cycle; convolutional gates keep spatial structure.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58968" y="1600200"/>
            <a:ext cx="1499616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8E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5568696" y="1691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568696" y="20574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skip gates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568696" y="23774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Additive gating re-weights encoder features before decoder concatenation.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095744" y="1600200"/>
            <a:ext cx="1499616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8E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7205472" y="1691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205472" y="20574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 diagnosis head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205472" y="23774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Reparameterised latent then 5-class phenotype, KL-regularised against N(0,I).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8640" y="3246120"/>
            <a:ext cx="8046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Loss.</a:t>
            </a:r>
            <a:r>
              <a:rPr lang="en-US" sz="1200" dirty="0">
                <a:solidFill>
                  <a:srgbClr val="4A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Soft-Dice + cross-entropy on the segmentation head; classification CE + KL on the VAE head.   </a:t>
            </a:r>
            <a:r>
              <a:rPr lang="en-US" sz="12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Optim.</a:t>
            </a:r>
            <a:r>
              <a:rPr lang="en-US" sz="1200" dirty="0">
                <a:solidFill>
                  <a:srgbClr val="4A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Adam (1e-4), 5-epoch warm-up + cosine annealing, dropout 0.2, weight decay 1e-5, InstanceNorm, early stopping on validation Dice.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strongest completed model is the baseline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dirty="0">
                <a:solidFill>
                  <a:srgbClr val="8B1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0.8576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48640" y="26517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A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validation Dice — 3D U-Net baseline, fold 0, seed 42, 100 epochs.</a:t>
            </a:r>
            <a:endParaRPr lang="en-US" sz="1050" dirty="0"/>
          </a:p>
        </p:txBody>
      </p:sp>
      <p:pic>
        <p:nvPicPr>
          <p:cNvPr id="6" name="Image 0" descr="baseline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971800"/>
            <a:ext cx="4206240" cy="11155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409651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100-epoch training loss and per-class validation Dice (RV / MYO / LV).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120640" y="1691640"/>
            <a:ext cx="3474720" cy="0"/>
          </a:xfrm>
          <a:prstGeom prst="line">
            <a:avLst/>
          </a:prstGeom>
          <a:noFill/>
          <a:ln w="9525">
            <a:solidFill>
              <a:srgbClr val="D6D8E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6"/>
          <p:cNvSpPr/>
          <p:nvPr/>
        </p:nvSpPr>
        <p:spPr>
          <a:xfrm>
            <a:off x="5120640" y="1783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by side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120640" y="21488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U-Net baseline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452360" y="214884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0.8576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120640" y="24688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five-block model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452360" y="246888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4A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0.7412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120640" y="27889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autoencoder pretrain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452360" y="278892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4A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0.8555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120640" y="31089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ConvLSTM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7452360" y="310896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4A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0.7272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5120640" y="34290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attention gates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7452360" y="342900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4A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0.7244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5120640" y="37490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VAE branch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7452360" y="374904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4A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0.7364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5029200" y="42519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Takeaway.</a:t>
            </a:r>
            <a:r>
              <a:rPr lang="en-US" sz="1100" dirty="0">
                <a:solidFill>
                  <a:srgbClr val="4A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Capacity alone did not buy Dice — the simplest discriminative architecture wins this small-data regime.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 heavy model loses to baseline</a:t>
            </a:r>
            <a:endParaRPr lang="en-US" sz="2600" dirty="0"/>
          </a:p>
        </p:txBody>
      </p:sp>
      <p:pic>
        <p:nvPicPr>
          <p:cNvPr id="4" name="Image 0" descr="ablation_ba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691640"/>
            <a:ext cx="4937760" cy="24323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16052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no ConvLSTM = 0.7272; A3 no attention = 0.7244. Main recovery comes from A2.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669280" y="16916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ABLATION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669280" y="1965960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— remove AE pretraining: 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8B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0.7412  →  0.8555 Dice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6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mismatch.</a:t>
            </a:r>
            <a:r>
              <a:rPr lang="en-US" sz="1150" dirty="0">
                <a:solidFill>
                  <a:srgbClr val="4A5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denoising MSE objective is a smoothness prior — it minimises pixel-wise reconstruction error, which biases the encoder toward low-frequency features. Cardiac segmentation depends on the high-frequency myocardial wall, so the pretrained init is a worse starting point than random + Kaiming for this loss surface.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are willing to claim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93192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8E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EXPERIMENTS SUPPORT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3D U-Net at 0.8576 mean Dice on fold 0.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 auxiliary objectives can hurt the primary metric when the inductive biases disagree.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AE pretraining recovers almost all of the baseline gap — the diagnostic signal is clear.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691640"/>
            <a:ext cx="393192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8E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484632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NOT CLAIMING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846320" y="214884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fold, single seed — no 5-fold variance estimate yet.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ConvLSTM tested on ED/ES frames, not the full cine sequence — the temporal claim is unsettled.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cross-centre evaluation (e.g. M&amp;Ms) — generalisation is open.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343400"/>
            <a:ext cx="8046720" cy="0"/>
          </a:xfrm>
          <a:prstGeom prst="line">
            <a:avLst/>
          </a:prstGeom>
          <a:noFill/>
          <a:ln w="9525">
            <a:solidFill>
              <a:srgbClr val="D6D8E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548640" y="4480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 Happy to take questions on the ablation or the training protocol.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641</Words>
  <Application>Microsoft Office PowerPoint</Application>
  <PresentationFormat>Ekran Gösterisi (16:9)</PresentationFormat>
  <Paragraphs>89</Paragraphs>
  <Slides>6</Slides>
  <Notes>6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6</vt:i4>
      </vt:variant>
    </vt:vector>
  </HeadingPairs>
  <TitlesOfParts>
    <vt:vector size="10" baseType="lpstr">
      <vt:lpstr>Arial</vt:lpstr>
      <vt:lpstr>Calibri</vt:lpstr>
      <vt:lpstr>Georgia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ACDC Cardiac MRI — Ablation Study</dc:title>
  <dc:subject>PptxGenJS Presentation</dc:subject>
  <dc:creator>Selim Yilmaz et al.</dc:creator>
  <cp:lastModifiedBy>Mehmet Emin AKKAYA</cp:lastModifiedBy>
  <cp:revision>2</cp:revision>
  <dcterms:created xsi:type="dcterms:W3CDTF">2026-05-21T05:01:26Z</dcterms:created>
  <dcterms:modified xsi:type="dcterms:W3CDTF">2026-05-21T12:29:08Z</dcterms:modified>
</cp:coreProperties>
</file>