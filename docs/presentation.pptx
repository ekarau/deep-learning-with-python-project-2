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&#65279;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1371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411480" cy="137160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411480" cy="1371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41148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486400"/>
            <a:ext cx="411480" cy="13716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91C1C"/>
                </a:solidFill>
                <a:latin typeface="Calibri"/>
              </a:rPr>
              <a:t>DEPARTMENT OF SOFTWARE ENGINEERING  ·  İSTİNYE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E40AF"/>
                </a:solidFill>
                <a:latin typeface="Calibri"/>
              </a:rPr>
              <a:t>Cardiac MRI Segmentation on ACDC:
An Ablation Driven Study of Self Supervised Pretraining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7280"/>
                </a:solidFill>
                <a:latin typeface="Calibri"/>
              </a:rPr>
              <a:t>Five integrated blocks:  3D U-Net,  ConvLSTM,  Attention,  VAE,  and Denoising AE.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657600"/>
            <a:ext cx="1371600" cy="32004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3D-CNN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3657600"/>
            <a:ext cx="1371600" cy="32004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2316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Conv-AE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3657600"/>
            <a:ext cx="1371600" cy="320040"/>
          </a:xfrm>
          <a:prstGeom prst="round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ConvLSTM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3657600"/>
            <a:ext cx="1371600" cy="32004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657600"/>
            <a:ext cx="1371600" cy="320040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657600"/>
            <a:ext cx="1371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VAE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434840"/>
            <a:ext cx="10332720" cy="141732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572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E40AF"/>
                </a:solidFill>
                <a:latin typeface="Calibri"/>
              </a:rPr>
              <a:t>AUTHORS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920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111827"/>
                </a:solidFill>
                <a:latin typeface="Calibri"/>
              </a:rPr>
              <a:t>Selvinaz Sayın (220901755)  -  Ege Karaurgan (229910141)  -  Vedat Efe Gezer (229910158)  -  Mehmet Emin Akkaya (2309011036)  -  Bayram Selim Yılmaz (2309011053)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080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SWE012  Deep Learning with Python   ·   Instructor: Asst. Prof. Dr. Yiğit Bekir Kaya   · 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Clinical context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ACDC challenge, cine cardiac MRI, 150 patients across five cardiac phenotypes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852160" cy="269748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" cy="269748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E7490"/>
                </a:solidFill>
                <a:latin typeface="Calibri"/>
              </a:rPr>
              <a:t>Inputs and targets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5394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11827"/>
                </a:solidFill>
                <a:latin typeface="Consolas"/>
              </a:rPr>
              <a:t>Volume   V ∈ ℝ^(D × H × W × T)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11827"/>
                </a:solidFill>
                <a:latin typeface="Consolas"/>
              </a:rPr>
              <a:t>Label     L ∈ {0, 1, 2, 3}^(D × H × W)   at ED and ES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11827"/>
                </a:solidFill>
                <a:latin typeface="Calibri"/>
              </a:rPr>
              <a:t>Subgroups   NOR · MINF · DCM · HCM · ARV   (n = 20 each)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280"/>
                </a:solidFill>
                <a:latin typeface="Calibri"/>
              </a:rPr>
              <a:t>Resolution is roughly 1.25 by 1.25 mm in plane with 5 to 10 mm slice thickness,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280"/>
                </a:solidFill>
                <a:latin typeface="Calibri"/>
              </a:rPr>
              <a:t>and each cine acquisition spans about 28 frames.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51960"/>
            <a:ext cx="5852160" cy="1828800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251960"/>
            <a:ext cx="109728" cy="18288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891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B45309"/>
                </a:solidFill>
                <a:latin typeface="Calibri"/>
              </a:rPr>
              <a:t>Why this 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0600"/>
            <a:ext cx="53949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The cardiac cycle produces a genuine spatio temporal signal,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which lets us justify a recurrent block from the data itself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rather than bolting one on after the fact.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Source: Bernard et al., IEEE TMI 37(11), 2514 to 2525, Nov. 2018.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1417320"/>
            <a:ext cx="4937760" cy="4663440"/>
          </a:xfrm>
          <a:prstGeom prst="rect">
            <a:avLst/>
          </a:prstGeom>
          <a:solidFill>
            <a:srgbClr val="F0F9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1417320"/>
            <a:ext cx="4937760" cy="4663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2 / 8</a:t>
            </a:r>
          </a:p>
        </p:txBody>
      </p:sp>
      <p:pic>
        <p:nvPicPr>
          <p:cNvPr id="50" name="EDA slice grid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6560" y="1417320"/>
            <a:ext cx="4937760" cy="4663440"/>
          </a:xfrm>
          <a:prstGeom prst="rect">
            <a:avLst/>
          </a:prstGeom>
          <a:ln>
            <a:solidFill>
              <a:srgbClr val="E5E7EB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Five blocks composed in a single forward pass:  F(x) = (ŷ_seg, ŷ_cls)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163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163" y="1828800"/>
            <a:ext cx="2057400" cy="5943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2891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2891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E40A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6083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3D-CNN 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603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f₃D ⋆ 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323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Voxel level spatial features.
U-Net family backbone.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85135" y="2971800"/>
            <a:ext cx="155448" cy="18288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45155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45155" y="1828800"/>
            <a:ext cx="2057400" cy="594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54883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4883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E7490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8075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Conv autoencoder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6595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min ‖D(E(x̃)) − x‖²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2315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Denoising self supervised
pretraining of the encoder E.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07127" y="2971800"/>
            <a:ext cx="155448" cy="18288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67147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7147" y="1828800"/>
            <a:ext cx="2057400" cy="5943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76875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6875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47857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0067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ConvLSTM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8587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h_t = LSTM(h_(t-1), x_t)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4307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Cardiac cycle temporal gating.
Addresses vanishing gradient.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29119" y="2971800"/>
            <a:ext cx="155448" cy="18288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289139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89139" y="1828800"/>
            <a:ext cx="2057400" cy="5943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98867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98867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2059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Attention 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80579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α = σ(ψ(s + g))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6299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Skip refinement on the decoder.
Additive attention.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351111" y="2971800"/>
            <a:ext cx="155448" cy="182880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11131" y="1828800"/>
            <a:ext cx="20574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11131" y="1828800"/>
            <a:ext cx="2057400" cy="5943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620859" y="193852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20859" y="1938528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6D28D9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4051" y="199339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VAE diagnosis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2571" y="2606040"/>
            <a:ext cx="1874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B91C1C"/>
                </a:solidFill>
                <a:latin typeface="Consolas"/>
              </a:rPr>
              <a:t>z = μ + σ ⊙ 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8291" y="3246120"/>
            <a:ext cx="1783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Probabilistic latent.
Five class classifier.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17720"/>
            <a:ext cx="11155680" cy="50292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469087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E40AF"/>
                </a:solidFill>
                <a:latin typeface="Calibri"/>
              </a:rPr>
              <a:t>Encoder weights flow from Stage A (AE pretraining) into Stage B (segmentation and diagnosis).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2120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280"/>
                </a:solidFill>
                <a:latin typeface="Calibri"/>
              </a:rPr>
              <a:t>Total of roughly 20 M parameters.   Implemented with MONAI 1.3 and PyTorch 2.x.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5669280"/>
            <a:ext cx="7589520" cy="777240"/>
          </a:xfrm>
          <a:prstGeom prst="rect">
            <a:avLst/>
          </a:prstGeom>
          <a:solidFill>
            <a:srgbClr val="F0F9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86000" y="5669280"/>
            <a:ext cx="75895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280"/>
                </a:solidFill>
                <a:latin typeface="Calibri"/>
              </a:rPr>
              <a:t>Full implementation: 3D encoder, AE pretraining, ConvLSTM, attention decoder, and VAE diagnosis head.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Mathematical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Key operators that justify the architectural choices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86400" cy="2377440"/>
          </a:xfrm>
          <a:prstGeom prst="roundRect">
            <a:avLst/>
          </a:prstGeom>
          <a:solidFill>
            <a:srgbClr val="F0F9FF"/>
          </a:solidFill>
          <a:ln w="15875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37160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40AF"/>
                </a:solidFill>
                <a:latin typeface="Calibri"/>
              </a:rPr>
              <a:t>3D convolution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(f ⋆ x)(i, j, k) = Σ_(a, b, c) f(a, b, c) · x(i−a, j−b, k−c)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A weight shared linear operator over the voxel grid. Local connectivity gives translation equivariance, and the receptive field grows with depth.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417320"/>
            <a:ext cx="5486400" cy="2377440"/>
          </a:xfrm>
          <a:prstGeom prst="round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417320"/>
            <a:ext cx="137160" cy="2377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5087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47857"/>
                </a:solidFill>
                <a:latin typeface="Calibri"/>
              </a:rPr>
              <a:t>ConvLSTM cell  (Shi et al. 2015)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9202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i, f, o = σ(W_x ⋆ x_t + W_h ⋆ h_(t-1))
g       = tanh(W_g ⋆ x_t + W_h ⋆ h_(t-1))
c_t = f ⊙ c_(t-1) + i ⊙ g,    h_t = o ⊙ tanh(c_t)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The gated cell state preserves the gradient across the cardiac cycle, which has roughly 28 frames.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59352"/>
            <a:ext cx="5486400" cy="2377440"/>
          </a:xfrm>
          <a:prstGeom prst="roundRect">
            <a:avLst/>
          </a:prstGeom>
          <a:solidFill>
            <a:srgbClr val="F5F3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59352"/>
            <a:ext cx="137160" cy="23774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507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D28D9"/>
                </a:solidFill>
                <a:latin typeface="Calibri"/>
              </a:rPr>
              <a:t>Variational autoencoder  (Kingma &amp; Welling 2014)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62272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z = μ + σ ⊙ ε,    ε ~ 𝒩(0, I)
L_KL = −½ Σ (1 + log σ² − μ² − σ²)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513832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The reparameterisation trick enables backpropagation through sampling, and the KL term keeps the latent close to a unit Gaussian prior.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959352"/>
            <a:ext cx="5486400" cy="237744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959352"/>
            <a:ext cx="137160" cy="2377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05079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45309"/>
                </a:solidFill>
                <a:latin typeface="Calibri"/>
              </a:rPr>
              <a:t>Combined training objective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462272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L = α · DiceFocal(ŷ, y) + β · CE(ŷ, y)  +  λ · CE(c, y_c)  +  γ · KL(q‖p)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513832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11827"/>
                </a:solidFill>
                <a:latin typeface="Calibri"/>
              </a:rPr>
              <a:t>Focal Dice handles class imbalance, since background covers about 98 percent of voxels.  We use α = β = 0.5, λ = 0.1, γ = 1e-3.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Training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Optimisation, regularisation, and evaluation under a fixed compute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402336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657600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Optimiser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137160" cy="3520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11827"/>
                </a:solidFill>
                <a:latin typeface="Consolas"/>
              </a:rPr>
              <a:t>Adam,  lr = 1e-4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B7280"/>
                </a:solidFill>
                <a:latin typeface="Consolas"/>
              </a:rPr>
              <a:t>β = (0.9, 0.999),  ε = 1e-8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Warm up 5 epochs, then cosine annealing.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Effective batch 4 with gradient accumulation × 2.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Weight decay  L₂ = 1e-5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463040"/>
            <a:ext cx="3657600" cy="402336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463040"/>
            <a:ext cx="3657600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53619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Regularisation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965960"/>
            <a:ext cx="137160" cy="352044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19456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Dropout  p = 0.2  on decoder maps.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InstanceNorm chosen for the small batch.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3D augmentation covers affine, noise,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elastic deformation, and random flip.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Early stopping with patience of 20 epochs.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463040"/>
            <a:ext cx="3657600" cy="4023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463040"/>
            <a:ext cx="365760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965960"/>
            <a:ext cx="137160" cy="3520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219456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5 fold patient stratified cross validation.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onsolas"/>
              </a:rPr>
              <a:t>Seed = 42 for reproducibility.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Metrics:  Dice per class and mean Dice.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B7280"/>
                </a:solidFill>
                <a:latin typeface="Calibri"/>
              </a:rPr>
              <a:t>Also HD95 and balanced accuracy.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100 epochs, about 70 minutes on an L4 GPU.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715000"/>
            <a:ext cx="11155680" cy="45720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77900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E40AF"/>
                </a:solidFill>
                <a:latin typeface="Calibri"/>
              </a:rPr>
              <a:t>Headline numbers reported are the best of 100 epoch validation Dice on fold 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Main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3D U-Net baseline  ·  ACDC fold 0  ·  seed 42  ·  100 epochs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303520" cy="329184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64592" cy="32918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47857"/>
                </a:solidFill>
                <a:latin typeface="Calibri"/>
              </a:rPr>
              <a:t>Validation Dice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047857"/>
                </a:solidFill>
                <a:latin typeface="Calibri"/>
              </a:rPr>
              <a:t>0.858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280"/>
                </a:solidFill>
                <a:latin typeface="Calibri"/>
              </a:rPr>
              <a:t>mean Dice, background excluded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40AF"/>
                </a:solidFill>
                <a:latin typeface="Calibri"/>
              </a:rPr>
              <a:t>PER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977640"/>
            <a:ext cx="1508760" cy="27432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77640"/>
            <a:ext cx="1508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LV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1508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1827"/>
                </a:solidFill>
                <a:latin typeface="Consolas"/>
              </a:rPr>
              <a:t>0.901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977640"/>
            <a:ext cx="1508760" cy="274320"/>
          </a:xfrm>
          <a:prstGeom prst="round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3977640"/>
            <a:ext cx="1508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RV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297680"/>
            <a:ext cx="1508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1827"/>
                </a:solidFill>
                <a:latin typeface="Consolas"/>
              </a:rPr>
              <a:t>0.840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3977640"/>
            <a:ext cx="1508760" cy="274320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3977640"/>
            <a:ext cx="1508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MYO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297680"/>
            <a:ext cx="1508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1827"/>
                </a:solidFill>
                <a:latin typeface="Consolas"/>
              </a:rPr>
              <a:t>0.831</a:t>
            </a:r>
          </a:p>
        </p:txBody>
      </p:sp>
      <p:pic>
        <p:nvPicPr>
          <p:cNvPr id="21" name="Picture 20" descr="baselin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148192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" y="5715000"/>
            <a:ext cx="11155680" cy="4572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77900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47857"/>
                </a:solidFill>
                <a:latin typeface="Calibri"/>
              </a:rPr>
              <a:t>Convergence is stable. The train to validation gap stays modest, and the curve plateaus near epoch 60.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Ablation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Seven controlled scenarios with one architectural decision changed at a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943600" cy="29254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1508760"/>
            <a:ext cx="5303520" cy="1691640"/>
          </a:xfrm>
          <a:prstGeom prst="round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AE pretraining hurts segmentation.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Removing AE pretraining (scenario A2) fully recovers baseline performance.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onsolas"/>
              </a:rPr>
              <a:t>Δ mean Dice  =  −0.117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83280"/>
            <a:ext cx="5303520" cy="141732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109728" cy="14173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E40AF"/>
                </a:solidFill>
                <a:latin typeface="Calibri"/>
              </a:rPr>
              <a:t>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Reconstruction optimised features smooth high frequency contrast that thin structures such as the myocardium need. The two objectives pull in different directions.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5303520" cy="141732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892040"/>
            <a:ext cx="109728" cy="14173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83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47857"/>
                </a:solidFill>
                <a:latin typeface="Calibri"/>
              </a:rPr>
              <a:t>The other blocks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4924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11827"/>
                </a:solidFill>
                <a:latin typeface="Calibri"/>
              </a:rPr>
              <a:t>ConvLSTM, attention, VAE, and augmentation each move the score by less than 0.02 Dice, which sits inside the noise band. A clean 3D U-Net is the operating point.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"/>
            <a:ext cx="73152" cy="5029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40AF"/>
                </a:solidFill>
                <a:latin typeface="Calibri"/>
              </a:rPr>
              <a:t>Discussion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8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Calibri"/>
              </a:rPr>
              <a:t>What the data warrants, and what it does not yet warrant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0" cy="3520440"/>
          </a:xfrm>
          <a:prstGeom prst="rect">
            <a:avLst/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37160" cy="3520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E40AF"/>
                </a:solidFill>
                <a:latin typeface="Calibri"/>
              </a:rPr>
              <a:t>Methodological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52120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Naive integration of advanced blocks does not always help.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Reconstruction pretraining is not the same as discriminative pretraining.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Ablation isolates the dominant lever, which in our case is pretraining.</a:t>
            </a:r>
          </a:p>
          <a:p>
            <a:pPr algn="l">
              <a:lnSpc>
                <a:spcPct val="160000"/>
              </a:lnSpc>
            </a:pPr>
            <a:r>
              <a:rPr sz="1300" b="0" i="1">
                <a:solidFill>
                  <a:srgbClr val="111827"/>
                </a:solidFill>
                <a:latin typeface="Calibri"/>
              </a:rPr>
              <a:t>Honest negative findings are evidence, not failure.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486400" cy="3520440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137160" cy="3520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B45309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11680"/>
            <a:ext cx="52120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Single fold reported, multi fold cross validation is pending compute budget.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ConvLSTM ran on single frame input, so full cycle ingestion is the next step.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Cross vendor generalisation through the M&amp;Ms benchmark (Campello et al. 2021).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111827"/>
                </a:solidFill>
                <a:latin typeface="Calibri"/>
              </a:rPr>
              <a:t>Modality transfer to multi parametric prostate MRI on PI-CAI.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166360"/>
            <a:ext cx="12191695" cy="12801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5166360"/>
            <a:ext cx="12191695" cy="6400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3035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Final operating point: 3D U-Net baseline with mean Dice 0.858.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Code, paper, and ablation results: github.com/ekarau/Deep-Learning-with-Python-Project-2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ACDC Cardiac MRI Segmentation  ·  SWE012  ·  Spring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836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280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