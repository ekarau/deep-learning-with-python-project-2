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137160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411480" cy="1371600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743200"/>
            <a:ext cx="411480" cy="137160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4114800"/>
            <a:ext cx="411480" cy="137160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5486400"/>
            <a:ext cx="411480" cy="1371600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82296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B91C1C"/>
                </a:solidFill>
                <a:latin typeface="Calibri"/>
              </a:rPr>
              <a:t>DEPARTMENT OF SOFTWARE ENGINEERING  ·  İSTİNYE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32588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3400" b="1" i="0">
                <a:solidFill>
                  <a:srgbClr val="1E40AF"/>
                </a:solidFill>
                <a:latin typeface="Calibri"/>
              </a:rPr>
              <a:t>Cardiac MRI Segmentation on ACDC:
An Ablation Driven Study of Self Supervised Pretraining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1089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1">
                <a:solidFill>
                  <a:srgbClr val="6B7280"/>
                </a:solidFill>
                <a:latin typeface="Calibri"/>
              </a:rPr>
              <a:t>Five integrated blocks:  3D U-Net,  ConvLSTM,  Attention,  VAE,  and Denoising AE.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3657600"/>
            <a:ext cx="1371600" cy="32004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657600"/>
            <a:ext cx="13716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3D-CNN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423160" y="3657600"/>
            <a:ext cx="1371600" cy="320040"/>
          </a:xfrm>
          <a:prstGeom prst="round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23160" y="3657600"/>
            <a:ext cx="13716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Conv-AE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931920" y="3657600"/>
            <a:ext cx="1371600" cy="320040"/>
          </a:xfrm>
          <a:prstGeom prst="round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931920" y="3657600"/>
            <a:ext cx="13716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ConvLSTM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40680" y="3657600"/>
            <a:ext cx="1371600" cy="320040"/>
          </a:xfrm>
          <a:prstGeom prst="round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40680" y="3657600"/>
            <a:ext cx="13716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Attention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949440" y="3657600"/>
            <a:ext cx="1371600" cy="320040"/>
          </a:xfrm>
          <a:prstGeom prst="round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49440" y="3657600"/>
            <a:ext cx="13716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VAE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4400" y="4434840"/>
            <a:ext cx="10332720" cy="1417320"/>
          </a:xfrm>
          <a:prstGeom prst="rect">
            <a:avLst/>
          </a:prstGeom>
          <a:solidFill>
            <a:srgbClr val="F0F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45720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E40AF"/>
                </a:solidFill>
                <a:latin typeface="Calibri"/>
              </a:rPr>
              <a:t>AUTHORS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4892040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111827"/>
                </a:solidFill>
                <a:latin typeface="Calibri"/>
              </a:rPr>
              <a:t>[Student 1]    [Student 2]    [Student 3]    [Student 4]    [Student 5]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608076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B7280"/>
                </a:solidFill>
                <a:latin typeface="Calibri"/>
              </a:rPr>
              <a:t>SWE012  Deep Learning with Python   ·   Instructor: Asst. Prof. Dr. Yiğit Bekir Kaya   ·   Spring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11480"/>
            <a:ext cx="73152" cy="502920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657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E40AF"/>
                </a:solidFill>
                <a:latin typeface="Calibri"/>
              </a:rPr>
              <a:t>Clinical context and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6868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7280"/>
                </a:solidFill>
                <a:latin typeface="Calibri"/>
              </a:rPr>
              <a:t>ACDC challenge, cine cardiac MRI, 150 patients across five cardiac phenotypes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1124712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17320"/>
            <a:ext cx="5852160" cy="2697480"/>
          </a:xfrm>
          <a:prstGeom prst="rect">
            <a:avLst/>
          </a:prstGeom>
          <a:solidFill>
            <a:srgbClr val="F0F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417320"/>
            <a:ext cx="109728" cy="2697480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554480"/>
            <a:ext cx="5394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E7490"/>
                </a:solidFill>
                <a:latin typeface="Calibri"/>
              </a:rPr>
              <a:t>Inputs and targets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965960"/>
            <a:ext cx="53949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11827"/>
                </a:solidFill>
                <a:latin typeface="Consolas"/>
              </a:rPr>
              <a:t>Volume   V ∈ ℝ^(D × H × W × T)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11827"/>
                </a:solidFill>
                <a:latin typeface="Consolas"/>
              </a:rPr>
              <a:t>Label     L ∈ {0, 1, 2, 3}^(D × H × W)   at ED and ES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11827"/>
                </a:solidFill>
                <a:latin typeface="Calibri"/>
              </a:rPr>
              <a:t>Subgroups   NOR · MINF · DCM · HCM · ARV   (n = 20 each)</a:t>
            </a:r>
          </a:p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6B7280"/>
                </a:solidFill>
                <a:latin typeface="Calibri"/>
              </a:rPr>
              <a:t>Resolution is roughly 1.25 by 1.25 mm in plane with 5 to 10 mm slice thickness,</a:t>
            </a:r>
          </a:p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6B7280"/>
                </a:solidFill>
                <a:latin typeface="Calibri"/>
              </a:rPr>
              <a:t>and each cine acquisition spans about 28 frames.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251960"/>
            <a:ext cx="5852160" cy="1828800"/>
          </a:xfrm>
          <a:prstGeom prst="rect">
            <a:avLst/>
          </a:prstGeom>
          <a:solidFill>
            <a:srgbClr val="FFF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4251960"/>
            <a:ext cx="109728" cy="182880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4389120"/>
            <a:ext cx="5394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B45309"/>
                </a:solidFill>
                <a:latin typeface="Calibri"/>
              </a:rPr>
              <a:t>Why this dataset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800600"/>
            <a:ext cx="539496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11827"/>
                </a:solidFill>
                <a:latin typeface="Calibri"/>
              </a:rPr>
              <a:t>The cardiac cycle produces a genuine spatio temporal signal,</a:t>
            </a:r>
          </a:p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11827"/>
                </a:solidFill>
                <a:latin typeface="Calibri"/>
              </a:rPr>
              <a:t>which lets us justify a recurrent block from the data itself</a:t>
            </a:r>
          </a:p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11827"/>
                </a:solidFill>
                <a:latin typeface="Calibri"/>
              </a:rPr>
              <a:t>rather than bolting one on after the fact.</a:t>
            </a:r>
          </a:p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280"/>
                </a:solidFill>
                <a:latin typeface="Calibri"/>
              </a:rPr>
              <a:t>Source: Bernard et al., IEEE TMI 37(11), 2514 to 2525, Nov. 2018.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766560" y="1417320"/>
            <a:ext cx="4937760" cy="4663440"/>
          </a:xfrm>
          <a:prstGeom prst="rect">
            <a:avLst/>
          </a:prstGeom>
          <a:solidFill>
            <a:srgbClr val="F0F9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66560" y="1417320"/>
            <a:ext cx="4937760" cy="4663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6B7280"/>
                </a:solidFill>
                <a:latin typeface="Calibri"/>
              </a:rPr>
              <a:t>[ MRI sample with GT overlay  ·  figures/eda_slice_grid.png ]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37960"/>
            <a:ext cx="12191695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65836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B7280"/>
                </a:solidFill>
                <a:latin typeface="Calibri"/>
              </a:rPr>
              <a:t>ACDC Cardiac MRI Segmentation  ·  SWE012  ·  Spring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58368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B7280"/>
                </a:solidFill>
                <a:latin typeface="Calibri"/>
              </a:rPr>
              <a:t>2 /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11480"/>
            <a:ext cx="73152" cy="50292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657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E40AF"/>
                </a:solidFill>
                <a:latin typeface="Calibri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6868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7280"/>
                </a:solidFill>
                <a:latin typeface="Calibri"/>
              </a:rPr>
              <a:t>Five blocks composed in a single forward pass:  F(x) = (ŷ_seg, ŷ_cls)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1124712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3163" y="1828800"/>
            <a:ext cx="2057400" cy="2468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3163" y="1828800"/>
            <a:ext cx="2057400" cy="59436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32891" y="1938528"/>
            <a:ext cx="365760" cy="3657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2891" y="1938528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1E40A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6083" y="1993392"/>
            <a:ext cx="1508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3D-CNN encoder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4603" y="2606040"/>
            <a:ext cx="1874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 i="0">
                <a:solidFill>
                  <a:srgbClr val="B91C1C"/>
                </a:solidFill>
                <a:latin typeface="Consolas"/>
              </a:rPr>
              <a:t>f₃D ⋆ 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0323" y="3246120"/>
            <a:ext cx="17830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111827"/>
                </a:solidFill>
                <a:latin typeface="Calibri"/>
              </a:rPr>
              <a:t>Voxel level spatial features.
U-Net family backbone.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2685135" y="2971800"/>
            <a:ext cx="155448" cy="182880"/>
          </a:xfrm>
          <a:prstGeom prst="rightArrow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845155" y="1828800"/>
            <a:ext cx="2057400" cy="2468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845155" y="1828800"/>
            <a:ext cx="2057400" cy="594360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954883" y="1938528"/>
            <a:ext cx="365760" cy="3657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54883" y="1938528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0E7490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48075" y="1993392"/>
            <a:ext cx="1508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Conv autoencoder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36595" y="2606040"/>
            <a:ext cx="1874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 i="0">
                <a:solidFill>
                  <a:srgbClr val="B91C1C"/>
                </a:solidFill>
                <a:latin typeface="Consolas"/>
              </a:rPr>
              <a:t>min ‖D(E(x̃)) − x‖²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82315" y="3246120"/>
            <a:ext cx="17830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111827"/>
                </a:solidFill>
                <a:latin typeface="Calibri"/>
              </a:rPr>
              <a:t>Denoising self supervised
pretraining of the encoder E.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4907127" y="2971800"/>
            <a:ext cx="155448" cy="182880"/>
          </a:xfrm>
          <a:prstGeom prst="rightArrow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067147" y="1828800"/>
            <a:ext cx="2057400" cy="2468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478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67147" y="1828800"/>
            <a:ext cx="2057400" cy="59436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176875" y="1938528"/>
            <a:ext cx="365760" cy="3657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76875" y="1938528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047857"/>
                </a:solidFill>
                <a:latin typeface="Calibr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570067" y="1993392"/>
            <a:ext cx="1508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ConvLSTM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58587" y="2606040"/>
            <a:ext cx="1874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 i="0">
                <a:solidFill>
                  <a:srgbClr val="B91C1C"/>
                </a:solidFill>
                <a:latin typeface="Consolas"/>
              </a:rPr>
              <a:t>h_t = LSTM(h_(t-1), x_t)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04307" y="3246120"/>
            <a:ext cx="17830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111827"/>
                </a:solidFill>
                <a:latin typeface="Calibri"/>
              </a:rPr>
              <a:t>Cardiac cycle temporal gating.
Addresses vanishing gradient.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7129119" y="2971800"/>
            <a:ext cx="155448" cy="182880"/>
          </a:xfrm>
          <a:prstGeom prst="rightArrow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289139" y="1828800"/>
            <a:ext cx="2057400" cy="2468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289139" y="1828800"/>
            <a:ext cx="2057400" cy="59436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398867" y="1938528"/>
            <a:ext cx="365760" cy="3657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98867" y="1938528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B45309"/>
                </a:solidFill>
                <a:latin typeface="Calibri"/>
              </a:rPr>
              <a:t>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92059" y="1993392"/>
            <a:ext cx="1508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Attention gates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80579" y="2606040"/>
            <a:ext cx="1874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 i="0">
                <a:solidFill>
                  <a:srgbClr val="B91C1C"/>
                </a:solidFill>
                <a:latin typeface="Consolas"/>
              </a:rPr>
              <a:t>α = σ(ψ(s + g))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26299" y="3246120"/>
            <a:ext cx="17830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111827"/>
                </a:solidFill>
                <a:latin typeface="Calibri"/>
              </a:rPr>
              <a:t>Skip refinement on the decoder.
Additive attention.</a:t>
            </a:r>
          </a:p>
        </p:txBody>
      </p:sp>
      <p:sp>
        <p:nvSpPr>
          <p:cNvPr id="37" name="Right Arrow 36"/>
          <p:cNvSpPr/>
          <p:nvPr/>
        </p:nvSpPr>
        <p:spPr>
          <a:xfrm>
            <a:off x="9351111" y="2971800"/>
            <a:ext cx="155448" cy="182880"/>
          </a:xfrm>
          <a:prstGeom prst="rightArrow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9511131" y="1828800"/>
            <a:ext cx="2057400" cy="2468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511131" y="1828800"/>
            <a:ext cx="2057400" cy="594360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9620859" y="1938528"/>
            <a:ext cx="365760" cy="3657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620859" y="1938528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6D28D9"/>
                </a:solidFill>
                <a:latin typeface="Calibri"/>
              </a:rP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014051" y="1993392"/>
            <a:ext cx="1508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VAE diagnosis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02571" y="2606040"/>
            <a:ext cx="1874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 i="0">
                <a:solidFill>
                  <a:srgbClr val="B91C1C"/>
                </a:solidFill>
                <a:latin typeface="Consolas"/>
              </a:rPr>
              <a:t>z = μ + σ ⊙ ε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48291" y="3246120"/>
            <a:ext cx="17830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111827"/>
                </a:solidFill>
                <a:latin typeface="Calibri"/>
              </a:rPr>
              <a:t>Probabilistic latent.
Five class classifier.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48640" y="4617720"/>
            <a:ext cx="11155680" cy="502920"/>
          </a:xfrm>
          <a:prstGeom prst="rect">
            <a:avLst/>
          </a:prstGeom>
          <a:solidFill>
            <a:srgbClr val="F0F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48640" y="4690872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1E40AF"/>
                </a:solidFill>
                <a:latin typeface="Calibri"/>
              </a:rPr>
              <a:t>Encoder weights flow from Stage A (AE pretraining) into Stage B (segmentation and diagnosis).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48640" y="5212080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B7280"/>
                </a:solidFill>
                <a:latin typeface="Calibri"/>
              </a:rPr>
              <a:t>Total of roughly 20 M parameters.   Implemented with MONAI 1.3 and PyTorch 2.x.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286000" y="5669280"/>
            <a:ext cx="7589520" cy="777240"/>
          </a:xfrm>
          <a:prstGeom prst="rect">
            <a:avLst/>
          </a:prstGeom>
          <a:solidFill>
            <a:srgbClr val="F0F9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286000" y="5669280"/>
            <a:ext cx="75895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6B7280"/>
                </a:solidFill>
                <a:latin typeface="Calibri"/>
              </a:rPr>
              <a:t>[ Optional: figures/architecture.png replaces this row when ready ]</a:t>
            </a:r>
          </a:p>
        </p:txBody>
      </p:sp>
      <p:sp>
        <p:nvSpPr>
          <p:cNvPr id="50" name="Rectangle 49"/>
          <p:cNvSpPr/>
          <p:nvPr/>
        </p:nvSpPr>
        <p:spPr>
          <a:xfrm>
            <a:off x="0" y="6537960"/>
            <a:ext cx="12191695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57200" y="65836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B7280"/>
                </a:solidFill>
                <a:latin typeface="Calibri"/>
              </a:rPr>
              <a:t>ACDC Cardiac MRI Segmentation  ·  SWE012  ·  Spring 2026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515600" y="658368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B7280"/>
                </a:solidFill>
                <a:latin typeface="Calibri"/>
              </a:rPr>
              <a:t>3 /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11480"/>
            <a:ext cx="73152" cy="50292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657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E40AF"/>
                </a:solidFill>
                <a:latin typeface="Calibri"/>
              </a:rPr>
              <a:t>Mathematical foundations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6868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7280"/>
                </a:solidFill>
                <a:latin typeface="Calibri"/>
              </a:rPr>
              <a:t>Key operators that justify the architectural choices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1124712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417320"/>
            <a:ext cx="5486400" cy="2377440"/>
          </a:xfrm>
          <a:prstGeom prst="roundRect">
            <a:avLst/>
          </a:prstGeom>
          <a:solidFill>
            <a:srgbClr val="F0F9FF"/>
          </a:solidFill>
          <a:ln w="15875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417320"/>
            <a:ext cx="137160" cy="237744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50876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E40AF"/>
                </a:solidFill>
                <a:latin typeface="Calibri"/>
              </a:rPr>
              <a:t>3D convolution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920240"/>
            <a:ext cx="5029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111827"/>
                </a:solidFill>
                <a:latin typeface="Consolas"/>
              </a:rPr>
              <a:t>(f ⋆ x)(i, j, k) = Σ_(a, b, c) f(a, b, c) · x(i−a, j−b, k−c)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971800"/>
            <a:ext cx="5029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11827"/>
                </a:solidFill>
                <a:latin typeface="Calibri"/>
              </a:rPr>
              <a:t>A weight shared linear operator over the voxel grid. Local connectivity gives translation equivariance, and the receptive field grows with depth.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1417320"/>
            <a:ext cx="5486400" cy="2377440"/>
          </a:xfrm>
          <a:prstGeom prst="roundRect">
            <a:avLst/>
          </a:prstGeom>
          <a:solidFill>
            <a:srgbClr val="ECFDF5"/>
          </a:solidFill>
          <a:ln w="15875">
            <a:solidFill>
              <a:srgbClr val="0478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09360" y="1417320"/>
            <a:ext cx="137160" cy="237744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29400" y="150876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47857"/>
                </a:solidFill>
                <a:latin typeface="Calibri"/>
              </a:rPr>
              <a:t>ConvLSTM cell  (Shi et al. 2015)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1920240"/>
            <a:ext cx="5029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111827"/>
                </a:solidFill>
                <a:latin typeface="Consolas"/>
              </a:rPr>
              <a:t>i, f, o = σ(W_x ⋆ x_t + W_h ⋆ h_(t-1))
g       = tanh(W_g ⋆ x_t + W_h ⋆ h_(t-1))
c_t = f ⊙ c_(t-1) + i ⊙ g,    h_t = o ⊙ tanh(c_t)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2971800"/>
            <a:ext cx="5029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11827"/>
                </a:solidFill>
                <a:latin typeface="Calibri"/>
              </a:rPr>
              <a:t>The gated cell state preserves the gradient across the cardiac cycle, which has roughly 28 frames.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959352"/>
            <a:ext cx="5486400" cy="2377440"/>
          </a:xfrm>
          <a:prstGeom prst="roundRect">
            <a:avLst/>
          </a:prstGeom>
          <a:solidFill>
            <a:srgbClr val="F5F3FF"/>
          </a:solidFill>
          <a:ln w="15875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3959352"/>
            <a:ext cx="137160" cy="2377440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050792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6D28D9"/>
                </a:solidFill>
                <a:latin typeface="Calibri"/>
              </a:rPr>
              <a:t>Variational autoencoder  (Kingma &amp; Welling 2014)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462272"/>
            <a:ext cx="5029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111827"/>
                </a:solidFill>
                <a:latin typeface="Consolas"/>
              </a:rPr>
              <a:t>z = μ + σ ⊙ ε,    ε ~ 𝒩(0, I)
L_KL = −½ Σ (1 + log σ² − μ² − σ²)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513832"/>
            <a:ext cx="5029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11827"/>
                </a:solidFill>
                <a:latin typeface="Calibri"/>
              </a:rPr>
              <a:t>The reparameterisation trick enables backpropagation through sampling, and the KL term keeps the latent close to a unit Gaussian prior.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09360" y="3959352"/>
            <a:ext cx="5486400" cy="2377440"/>
          </a:xfrm>
          <a:prstGeom prst="roundRect">
            <a:avLst/>
          </a:prstGeom>
          <a:solidFill>
            <a:srgbClr val="FFFBEB"/>
          </a:solidFill>
          <a:ln w="1587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09360" y="3959352"/>
            <a:ext cx="137160" cy="237744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29400" y="4050792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B45309"/>
                </a:solidFill>
                <a:latin typeface="Calibri"/>
              </a:rPr>
              <a:t>Combined training objective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400" y="4462272"/>
            <a:ext cx="5029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111827"/>
                </a:solidFill>
                <a:latin typeface="Consolas"/>
              </a:rPr>
              <a:t>L = α · DiceFocal(ŷ, y) + β · CE(ŷ, y)  +  λ · CE(c, y_c)  +  γ · KL(q‖p)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5513832"/>
            <a:ext cx="5029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11827"/>
                </a:solidFill>
                <a:latin typeface="Calibri"/>
              </a:rPr>
              <a:t>Focal Dice handles class imbalance, since background covers about 98 percent of voxels.  We use α = β = 0.5, λ = 0.1, γ = 1e-3.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537960"/>
            <a:ext cx="12191695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65836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B7280"/>
                </a:solidFill>
                <a:latin typeface="Calibri"/>
              </a:rPr>
              <a:t>ACDC Cardiac MRI Segmentation  ·  SWE012  ·  Spring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0" y="658368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B7280"/>
                </a:solidFill>
                <a:latin typeface="Calibri"/>
              </a:rPr>
              <a:t>4 / 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11480"/>
            <a:ext cx="73152" cy="5029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657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E40AF"/>
                </a:solidFill>
                <a:latin typeface="Calibri"/>
              </a:rPr>
              <a:t>Training protocol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6868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7280"/>
                </a:solidFill>
                <a:latin typeface="Calibri"/>
              </a:rPr>
              <a:t>Optimisation, regularisation, and evaluation under a fixed compute budget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1124712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463040"/>
            <a:ext cx="3657600" cy="4023360"/>
          </a:xfrm>
          <a:prstGeom prst="roundRect">
            <a:avLst/>
          </a:prstGeom>
          <a:solidFill>
            <a:srgbClr val="F0F9F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463040"/>
            <a:ext cx="3657600" cy="50292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536192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Optimiser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965960"/>
            <a:ext cx="137160" cy="352044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194560"/>
            <a:ext cx="3154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111827"/>
                </a:solidFill>
                <a:latin typeface="Consolas"/>
              </a:rPr>
              <a:t>Adam,  lr = 1e-4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6B7280"/>
                </a:solidFill>
                <a:latin typeface="Consolas"/>
              </a:rPr>
              <a:t>β = (0.9, 0.999),  ε = 1e-8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111827"/>
                </a:solidFill>
                <a:latin typeface="Calibri"/>
              </a:rPr>
              <a:t>Warm up 5 epochs, then cosine annealing.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111827"/>
                </a:solidFill>
                <a:latin typeface="Calibri"/>
              </a:rPr>
              <a:t>Effective batch 4 with gradient accumulation × 2.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111827"/>
                </a:solidFill>
                <a:latin typeface="Consolas"/>
              </a:rPr>
              <a:t>Weight decay  L₂ = 1e-5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1463040"/>
            <a:ext cx="3657600" cy="4023360"/>
          </a:xfrm>
          <a:prstGeom prst="roundRect">
            <a:avLst/>
          </a:prstGeom>
          <a:solidFill>
            <a:srgbClr val="F0F9FF"/>
          </a:solidFill>
          <a:ln w="12700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34840" y="1463040"/>
            <a:ext cx="3657600" cy="502920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63440" y="1536192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Regularisation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34840" y="1965960"/>
            <a:ext cx="137160" cy="3520440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09160" y="2194560"/>
            <a:ext cx="3154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111827"/>
                </a:solidFill>
                <a:latin typeface="Calibri"/>
              </a:rPr>
              <a:t>Dropout  p = 0.2  on decoder maps.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111827"/>
                </a:solidFill>
                <a:latin typeface="Calibri"/>
              </a:rPr>
              <a:t>InstanceNorm chosen for the small batch.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111827"/>
                </a:solidFill>
                <a:latin typeface="Calibri"/>
              </a:rPr>
              <a:t>3D augmentation covers affine, noise,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6B7280"/>
                </a:solidFill>
                <a:latin typeface="Calibri"/>
              </a:rPr>
              <a:t>elastic deformation, and random flip.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111827"/>
                </a:solidFill>
                <a:latin typeface="Calibri"/>
              </a:rPr>
              <a:t>Early stopping with patience of 20 epochs.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21040" y="1463040"/>
            <a:ext cx="3657600" cy="402336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0478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321040" y="1463040"/>
            <a:ext cx="3657600" cy="5029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49640" y="1536192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Evaluation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321040" y="1965960"/>
            <a:ext cx="137160" cy="352044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95360" y="2194560"/>
            <a:ext cx="3154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111827"/>
                </a:solidFill>
                <a:latin typeface="Calibri"/>
              </a:rPr>
              <a:t>5 fold patient stratified cross validation.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111827"/>
                </a:solidFill>
                <a:latin typeface="Consolas"/>
              </a:rPr>
              <a:t>Seed = 42 for reproducibility.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111827"/>
                </a:solidFill>
                <a:latin typeface="Calibri"/>
              </a:rPr>
              <a:t>Metrics:  Dice per class and mean Dice.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6B7280"/>
                </a:solidFill>
                <a:latin typeface="Calibri"/>
              </a:rPr>
              <a:t>Also HD95 and balanced accuracy.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111827"/>
                </a:solidFill>
                <a:latin typeface="Calibri"/>
              </a:rPr>
              <a:t>100 epochs, about 70 minutes on an L4 GPU.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5715000"/>
            <a:ext cx="11155680" cy="457200"/>
          </a:xfrm>
          <a:prstGeom prst="rect">
            <a:avLst/>
          </a:prstGeom>
          <a:solidFill>
            <a:srgbClr val="F0F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5779008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1E40AF"/>
                </a:solidFill>
                <a:latin typeface="Calibri"/>
              </a:rPr>
              <a:t>Headline numbers reported are the best of 100 epoch validation Dice on fold 0.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37960"/>
            <a:ext cx="12191695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65836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B7280"/>
                </a:solidFill>
                <a:latin typeface="Calibri"/>
              </a:rPr>
              <a:t>ACDC Cardiac MRI Segmentation  ·  SWE012  ·  Spring 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0" y="658368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B7280"/>
                </a:solidFill>
                <a:latin typeface="Calibri"/>
              </a:rPr>
              <a:t>5 /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11480"/>
            <a:ext cx="73152" cy="5029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657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E40AF"/>
                </a:solidFill>
                <a:latin typeface="Calibri"/>
              </a:rPr>
              <a:t>Main result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6868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7280"/>
                </a:solidFill>
                <a:latin typeface="Calibri"/>
              </a:rPr>
              <a:t>3D U-Net baseline  ·  ACDC fold 0  ·  seed 42  ·  100 epochs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1124712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17320"/>
            <a:ext cx="5303520" cy="3291840"/>
          </a:xfrm>
          <a:prstGeom prst="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417320"/>
            <a:ext cx="164592" cy="329184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55448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47857"/>
                </a:solidFill>
                <a:latin typeface="Calibri"/>
              </a:rPr>
              <a:t>Validation Dice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874519"/>
            <a:ext cx="49377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7200" b="1" i="0">
                <a:solidFill>
                  <a:srgbClr val="047857"/>
                </a:solidFill>
                <a:latin typeface="Calibri"/>
              </a:rPr>
              <a:t>0.858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10896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6B7280"/>
                </a:solidFill>
                <a:latin typeface="Calibri"/>
              </a:rPr>
              <a:t>mean Dice, background excluded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65760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E40AF"/>
                </a:solidFill>
                <a:latin typeface="Calibri"/>
              </a:rPr>
              <a:t>PER CLASS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977640"/>
            <a:ext cx="1508760" cy="27432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3977640"/>
            <a:ext cx="15087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LV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297680"/>
            <a:ext cx="15087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111827"/>
                </a:solidFill>
                <a:latin typeface="Consolas"/>
              </a:rPr>
              <a:t>0.901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423160" y="3977640"/>
            <a:ext cx="1508760" cy="274320"/>
          </a:xfrm>
          <a:prstGeom prst="round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23160" y="3977640"/>
            <a:ext cx="15087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RV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23160" y="4297680"/>
            <a:ext cx="15087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111827"/>
                </a:solidFill>
                <a:latin typeface="Consolas"/>
              </a:rPr>
              <a:t>0.840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023360" y="3977640"/>
            <a:ext cx="1508760" cy="274320"/>
          </a:xfrm>
          <a:prstGeom prst="round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023360" y="3977640"/>
            <a:ext cx="15087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MYO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23360" y="4297680"/>
            <a:ext cx="15087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111827"/>
                </a:solidFill>
                <a:latin typeface="Consolas"/>
              </a:rPr>
              <a:t>0.831</a:t>
            </a:r>
          </a:p>
        </p:txBody>
      </p:sp>
      <p:pic>
        <p:nvPicPr>
          <p:cNvPr id="21" name="Picture 20" descr="baseline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463040"/>
            <a:ext cx="5577840" cy="1481925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548640" y="5715000"/>
            <a:ext cx="11155680" cy="457200"/>
          </a:xfrm>
          <a:prstGeom prst="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5779008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047857"/>
                </a:solidFill>
                <a:latin typeface="Calibri"/>
              </a:rPr>
              <a:t>Convergence is stable. The train to validation gap stays modest, and the curve plateaus near epoch 60.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37960"/>
            <a:ext cx="12191695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65836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B7280"/>
                </a:solidFill>
                <a:latin typeface="Calibri"/>
              </a:rPr>
              <a:t>ACDC Cardiac MRI Segmentation  ·  SWE012  ·  Spring 2026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0" y="658368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B7280"/>
                </a:solidFill>
                <a:latin typeface="Calibri"/>
              </a:rPr>
              <a:t>6 /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11480"/>
            <a:ext cx="73152" cy="50292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657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E40AF"/>
                </a:solidFill>
                <a:latin typeface="Calibri"/>
              </a:rPr>
              <a:t>Ablation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6868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7280"/>
                </a:solidFill>
                <a:latin typeface="Calibri"/>
              </a:rPr>
              <a:t>Seven controlled scenarios with one architectural decision changed at a time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1124712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blation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463040"/>
            <a:ext cx="5943600" cy="2925453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48640" y="1508760"/>
            <a:ext cx="5303520" cy="1691640"/>
          </a:xfrm>
          <a:prstGeom prst="round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627632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KEY FINDING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965960"/>
            <a:ext cx="4937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AE pretraining hurts segmentation.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514600"/>
            <a:ext cx="4937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FFFFFF"/>
                </a:solidFill>
                <a:latin typeface="Calibri"/>
              </a:rPr>
              <a:t>Removing AE pretraining (scenario A2) fully recovers baseline performance.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834640"/>
            <a:ext cx="49377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Consolas"/>
              </a:rPr>
              <a:t>Δ mean Dice  =  −0.117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383280"/>
            <a:ext cx="5303520" cy="1417320"/>
          </a:xfrm>
          <a:prstGeom prst="rect">
            <a:avLst/>
          </a:prstGeom>
          <a:solidFill>
            <a:srgbClr val="F0F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3383280"/>
            <a:ext cx="109728" cy="141732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47472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E40AF"/>
                </a:solidFill>
                <a:latin typeface="Calibri"/>
              </a:rPr>
              <a:t>Why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840480"/>
            <a:ext cx="5029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111827"/>
                </a:solidFill>
                <a:latin typeface="Calibri"/>
              </a:rPr>
              <a:t>Reconstruction optimised features smooth high frequency contrast that thin structures such as the myocardium need. The two objectives pull in different directions.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4892040"/>
            <a:ext cx="5303520" cy="1417320"/>
          </a:xfrm>
          <a:prstGeom prst="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4892040"/>
            <a:ext cx="109728" cy="14173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498348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47857"/>
                </a:solidFill>
                <a:latin typeface="Calibri"/>
              </a:rPr>
              <a:t>The other blocks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5349240"/>
            <a:ext cx="5029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111827"/>
                </a:solidFill>
                <a:latin typeface="Calibri"/>
              </a:rPr>
              <a:t>ConvLSTM, attention, VAE, and augmentation each move the score by less than 0.02 Dice, which sits inside the noise band. A clean 3D U-Net is the operating point.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537960"/>
            <a:ext cx="12191695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65836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B7280"/>
                </a:solidFill>
                <a:latin typeface="Calibri"/>
              </a:rPr>
              <a:t>ACDC Cardiac MRI Segmentation  ·  SWE012  ·  Spring 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0" y="658368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B7280"/>
                </a:solidFill>
                <a:latin typeface="Calibri"/>
              </a:rPr>
              <a:t>7 /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11480"/>
            <a:ext cx="73152" cy="502920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657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E40AF"/>
                </a:solidFill>
                <a:latin typeface="Calibri"/>
              </a:rPr>
              <a:t>Discussion and 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6868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7280"/>
                </a:solidFill>
                <a:latin typeface="Calibri"/>
              </a:rPr>
              <a:t>What the data warrants, and what it does not yet warrant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1124712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17320"/>
            <a:ext cx="5486400" cy="3520440"/>
          </a:xfrm>
          <a:prstGeom prst="rect">
            <a:avLst/>
          </a:prstGeom>
          <a:solidFill>
            <a:srgbClr val="F0F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417320"/>
            <a:ext cx="137160" cy="352044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554480"/>
            <a:ext cx="5212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E40AF"/>
                </a:solidFill>
                <a:latin typeface="Calibri"/>
              </a:rPr>
              <a:t>Methodological takeaways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011680"/>
            <a:ext cx="52120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300" b="0" i="0">
                <a:solidFill>
                  <a:srgbClr val="111827"/>
                </a:solidFill>
                <a:latin typeface="Calibri"/>
              </a:rPr>
              <a:t>Naive integration of advanced blocks does not always help.</a:t>
            </a:r>
          </a:p>
          <a:p>
            <a:pPr algn="l">
              <a:lnSpc>
                <a:spcPct val="160000"/>
              </a:lnSpc>
            </a:pPr>
            <a:r>
              <a:rPr sz="1300" b="0" i="0">
                <a:solidFill>
                  <a:srgbClr val="111827"/>
                </a:solidFill>
                <a:latin typeface="Calibri"/>
              </a:rPr>
              <a:t>Reconstruction pretraining is not the same as discriminative pretraining.</a:t>
            </a:r>
          </a:p>
          <a:p>
            <a:pPr algn="l">
              <a:lnSpc>
                <a:spcPct val="160000"/>
              </a:lnSpc>
            </a:pPr>
            <a:r>
              <a:rPr sz="1300" b="0" i="0">
                <a:solidFill>
                  <a:srgbClr val="111827"/>
                </a:solidFill>
                <a:latin typeface="Calibri"/>
              </a:rPr>
              <a:t>Ablation isolates the dominant lever, which in our case is pretraining.</a:t>
            </a:r>
          </a:p>
          <a:p>
            <a:pPr algn="l">
              <a:lnSpc>
                <a:spcPct val="160000"/>
              </a:lnSpc>
            </a:pPr>
            <a:r>
              <a:rPr sz="1300" b="0" i="1">
                <a:solidFill>
                  <a:srgbClr val="111827"/>
                </a:solidFill>
                <a:latin typeface="Calibri"/>
              </a:rPr>
              <a:t>Honest negative findings are evidence, not failure.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1417320"/>
            <a:ext cx="5486400" cy="3520440"/>
          </a:xfrm>
          <a:prstGeom prst="rect">
            <a:avLst/>
          </a:prstGeom>
          <a:solidFill>
            <a:srgbClr val="FFF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63640" y="1417320"/>
            <a:ext cx="137160" cy="352044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60" y="1554480"/>
            <a:ext cx="5212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B45309"/>
                </a:solidFill>
                <a:latin typeface="Calibri"/>
              </a:rPr>
              <a:t>Limitations and future work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2011680"/>
            <a:ext cx="52120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300" b="0" i="0">
                <a:solidFill>
                  <a:srgbClr val="111827"/>
                </a:solidFill>
                <a:latin typeface="Calibri"/>
              </a:rPr>
              <a:t>Single fold reported, multi fold cross validation is pending compute budget.</a:t>
            </a:r>
          </a:p>
          <a:p>
            <a:pPr algn="l">
              <a:lnSpc>
                <a:spcPct val="160000"/>
              </a:lnSpc>
            </a:pPr>
            <a:r>
              <a:rPr sz="1300" b="0" i="0">
                <a:solidFill>
                  <a:srgbClr val="111827"/>
                </a:solidFill>
                <a:latin typeface="Calibri"/>
              </a:rPr>
              <a:t>ConvLSTM ran on single frame input, so full cycle ingestion is the next step.</a:t>
            </a:r>
          </a:p>
          <a:p>
            <a:pPr algn="l">
              <a:lnSpc>
                <a:spcPct val="160000"/>
              </a:lnSpc>
            </a:pPr>
            <a:r>
              <a:rPr sz="1300" b="0" i="0">
                <a:solidFill>
                  <a:srgbClr val="111827"/>
                </a:solidFill>
                <a:latin typeface="Calibri"/>
              </a:rPr>
              <a:t>Cross vendor generalisation through the M&amp;Ms benchmark (Campello et al. 2021).</a:t>
            </a:r>
          </a:p>
          <a:p>
            <a:pPr algn="l">
              <a:lnSpc>
                <a:spcPct val="160000"/>
              </a:lnSpc>
            </a:pPr>
            <a:r>
              <a:rPr sz="1300" b="0" i="0">
                <a:solidFill>
                  <a:srgbClr val="111827"/>
                </a:solidFill>
                <a:latin typeface="Calibri"/>
              </a:rPr>
              <a:t>Modality transfer to multi parametric prostate MRI on PI-CAI.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5166360"/>
            <a:ext cx="12191695" cy="128016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5166360"/>
            <a:ext cx="12191695" cy="64008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530352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Final operating point: 3D U-Net baseline with mean Dice 0.858.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580644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FFFFFF"/>
                </a:solidFill>
                <a:latin typeface="Calibri"/>
              </a:rPr>
              <a:t>Code, paper, and ablation results: github.com/ekarau/Deep-Learning-with-Python-Project-2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37960"/>
            <a:ext cx="12191695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65836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B7280"/>
                </a:solidFill>
                <a:latin typeface="Calibri"/>
              </a:rPr>
              <a:t>ACDC Cardiac MRI Segmentation  ·  SWE012  ·  Spring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0" y="658368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B7280"/>
                </a:solidFill>
                <a:latin typeface="Calibri"/>
              </a:rPr>
              <a:t>8 /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